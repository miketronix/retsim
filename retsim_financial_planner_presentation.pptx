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9202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0B981"/>
                </a:solidFill>
              </a:defRPr>
            </a:pPr>
            <a:r>
              <a:t>retsim</a:t>
            </a:r>
          </a:p>
          <a:p>
            <a:pPr>
              <a:spcBef>
                <a:spcPts val="800"/>
              </a:spcBef>
              <a:defRPr sz="2800" b="1">
                <a:solidFill>
                  <a:srgbClr val="FFFFFF"/>
                </a:solidFill>
              </a:defRPr>
            </a:pPr>
            <a:r>
              <a:t>Institutional-Grade Retirement Simulation Engine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Next-Generation Wealth, Tax, &amp; Cash Flow Modeling Built for Fiduciaries &amp; Financial Planners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303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Monthly Calculation Granularity  •  Tiered Budget &amp; QoL Metric  •  Medicare IRMAA &amp; SS Haircut Engine  •  Cholesky Stochastic Returns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THE ADVISORY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Beyond Static 4% Rules &amp; Oversimplified Spreadsheets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Path-Dependent Tax Friction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Retail tools treat tax rates as static averages. retsim computes exact progressive federal/state brackets, Social Security combined income taxability, and 2-year lookback IRMAA surcharges.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Rigid All-or-Nothing Budgets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Clients don't spend identically every month. retsim separates non-discretionary BasicBudget from discretionary QoLBudget, tracking cumulative QoL satisfaction (0-100%).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Coarse Annual Time Steps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Annual calculations miss mid-year Social Security claims, monthly mortgage principal decay, and intra-year cash flow shortfalls. retsim steps internally every month (dt = 1/12).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Uncorrelated Risk Assumptions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Standard tools assume stock and bond returns are independent. retsim utilizes Cholesky decomposition with PSD matrix repair to model correlated Sequence of Returns Risk (SRR).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BUDGET &amp; LIFESTYLE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Client-Centric Budget Hierarchy: BasicBudget vs. QoLBudget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1. BasicBudget (Mandatory Baseline)</a:t>
            </a:r>
          </a:p>
          <a:p>
            <a:pPr>
              <a:spcBef>
                <a:spcPts val="1400"/>
              </a:spcBef>
              <a:defRPr sz="1300">
                <a:solidFill>
                  <a:srgbClr val="64748B"/>
                </a:solidFill>
              </a:defRPr>
            </a:pPr>
            <a:r>
              <a:t>• Core Essential Expenses: Housing, debt/mortgage, utilities, food, Medicare Part B/D premiums.</a:t>
            </a:r>
            <a:br/>
            <a:r>
              <a:t>• Priority Rule: Must always be 100% satisfied each month.</a:t>
            </a:r>
            <a:br/>
            <a:r>
              <a:t>• Solvency Guardrail: Triggers an explicit Insolvency Flag if portfolio liquidity is exhausted.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2. QoLBudget &amp; Satisfaction Index</a:t>
            </a:r>
          </a:p>
          <a:p>
            <a:pPr>
              <a:spcBef>
                <a:spcPts val="1400"/>
              </a:spcBef>
              <a:defRPr sz="1300">
                <a:solidFill>
                  <a:srgbClr val="64748B"/>
                </a:solidFill>
              </a:defRPr>
            </a:pPr>
            <a:r>
              <a:t>• Discretionary Lifestyle: Travel, dining out, hobbies, family gifting.</a:t>
            </a:r>
            <a:br/>
            <a:r>
              <a:t>• Delivery Rule: Satisfied to maximum extent possible after BasicBudget &amp; taxes are met.</a:t>
            </a:r>
            <a:br/>
            <a:r>
              <a:t>• Cumulative Satisfaction Index (0–100%):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4114800"/>
            <a:ext cx="4389120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QoL Cumulative Satisfaction % =</a:t>
            </a:r>
            <a:br/>
            <a:r>
              <a:t>( Total Delivered QoL / Total Target QoL ) × 100%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CASH FLOW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Priority Waterfall &amp; Modular Withdrawal Behaviors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Default Portfolio Withdrawal Priority Waterfall: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468880" cy="1463040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STEP 1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Taxable Brokerage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Already-taxed basis</a:t>
            </a:r>
            <a:br/>
            <a:r>
              <a:t>LTCG rates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920240"/>
            <a:ext cx="2468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STEP 2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401(k) Accounts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Pre-tax growth</a:t>
            </a:r>
            <a:br/>
            <a:r>
              <a:t>Ordinary income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2468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STEP 3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Traditional IRA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Pre-tax growth</a:t>
            </a:r>
            <a:br/>
            <a:r>
              <a:t>Subject to RMDs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920240"/>
            <a:ext cx="2468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STEP 4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Roth IRA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Tax-free growth</a:t>
            </a:r>
            <a:br/>
            <a:r>
              <a:t>No RMD friction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106984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Pluggable WithdrawalBehavior Protocol Strategy Hooks: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• Dynamic Spending Guardrails (Guyton-Klinger / VPW): Automatically scales QoLBudget down during market drawdowns to protect portfolio longevity, and raises spending during prosperity years.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• Systematic Pre-RMD Roth Conversions: Executes tactical Traditional IRA to Roth conversions during low-income retirement gap years to fill low tax brackets and shrink future RMDs.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• Tax-Aware Portfolio Rebalancing: Directs monthly cash withdrawals from over-weighted asset classes to restore target asset allocation (e.g. 60/40) without triggering unnecessary tax friction.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TAX &amp; REGULATORY PRECISION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Real-World Friction: Tax Brackets, IRMAA Cliffs, &amp; SS Haircuts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Medicare Part B/D &amp; IRMAA Lookback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Evaluates MAGI from 2 years prior (T-2) to compute tiered IRMAA surcharges. Prevents clients from accidentally tripping steep Medicare cliff penalties via large RMDs or lump-sum withdrawals.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Social Security 'Combined Income' Tax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Models unindexed Federal Provisional Income thresholds ($25k/$32k and $34k/$44k). Captures the expanding tax drag on Social Security benefits over multi-decade retirement timelines.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SS Insolvency Haircut Cliff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Programmable Trustee Report benefit cuts (e.g. 23% reduction starting in 2033) while preserving COLA compounding. Allows advisors to stress-test Social Security Trust Fund depletion scenarios.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Modular Alabama State Tax Engine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Includes AL state tax rules: 100% exemption for Social Security and Defined Benefit Pensions, 2%/4%/5% rate brackets, and AL standard deduction phaseouts.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STOCHASTIC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Correlated Asset Classes &amp; Sequence of Returns Risk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Multivariate Return Matrix via Cholesky Factorization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Up to 10 Asset Categories: Tracks equities, fixed income, cash, real estate with specific gross returns, fees, and tax categories.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Cross-Correlation Matrix (Σ = L Lᵀ): Simulates realistic multi-asset co-movement using Cholesky factor L applied to standard normal vectors z.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Automated PSD Matrix Repair: User-defined correlation matrices often fail Positive Semi-Definiteness. retsim incorporates Higham's eigenvalue clipping algorithm to guarantee mathematical validity.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3-Stage Architecture Roadmap: (a) Deterministic Engine → (b) Correlated Stochastic Engine → (c) Vectorized Monte Carlo Simulation.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45920"/>
            <a:ext cx="4937760" cy="44805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Stochastic Formulation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Monthly Correlated Return Vector:</a:t>
            </a:r>
            <a:br/>
            <a:r>
              <a:t>r_m = μ_m + L · z_m</a:t>
            </a:r>
            <a:br/>
            <a:br/>
            <a:r>
              <a:t>Where:</a:t>
            </a:r>
            <a:br/>
            <a:r>
              <a:t>• μ_m = Expected monthly net return vector</a:t>
            </a:r>
            <a:br/>
            <a:r>
              <a:t>• L = Lower triangular Cholesky factor of Σ</a:t>
            </a:r>
            <a:br/>
            <a:r>
              <a:t>• z_m ~ N(0, I) = Independent standard normal vector</a:t>
            </a:r>
            <a:br/>
            <a:r>
              <a:t>• Σ = User cross-correlation &amp; covariance matrix</a:t>
            </a:r>
          </a:p>
          <a:p>
            <a:pPr>
              <a:spcBef>
                <a:spcPts val="2000"/>
              </a:spcBef>
              <a:defRPr sz="1200" i="1">
                <a:solidFill>
                  <a:srgbClr val="34D399"/>
                </a:solidFill>
              </a:defRPr>
            </a:pPr>
            <a:r>
              <a:t>Accurately captures Sequence of Returns Risk (SRR) in early retirement years.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TESTING &amp; 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3-Tier Verification Suite &amp; Institutional Auditability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Tier 1: Neutral Portfolio Unit Tests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t>Analytical Mathematical Verification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Zero-Tax / Zero-Inflation pure compound growth verification.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Mortgage amortization payoff to exactly $0.00 at month 360.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Pure RMD decay matching IRS Publication 590-B factors.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Boundary cliff tests at MAGI threshold ± $1.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Tier 2: External Benchmark Parity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t>Gold-Standard Cross-Validation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IRS Form 1040 tax instruction table parity tests.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Regression checks against baseline FireCalc / CFiresim CSV ledgers.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Tier 3: Property-Based Invariants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t>Automated Hypothesis Framework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Conservation of Funds: Total Inflow = Outflow + Delta Wealth.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Monotonic Tax: Higher gross income never decreases tax liability.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Stochastic covariance convergence within Frobenius norm &lt; 0.005.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retsim Transforms Retirement Advisory</a:t>
            </a:r>
          </a:p>
          <a:p>
            <a:pPr>
              <a:spcBef>
                <a:spcPts val="600"/>
              </a:spcBef>
              <a:defRPr sz="1500">
                <a:solidFill>
                  <a:srgbClr val="94A3B8"/>
                </a:solidFill>
              </a:defRPr>
            </a:pPr>
            <a:r>
              <a:t>Elevating client conversations from black-box estimates to rigorous fiduciary planning.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338328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Fiduciary Rigor</a:t>
            </a:r>
          </a:p>
          <a:p>
            <a:pPr>
              <a:spcBef>
                <a:spcPts val="1400"/>
              </a:spcBef>
              <a:defRPr sz="1300">
                <a:solidFill>
                  <a:srgbClr val="E2E8F0"/>
                </a:solidFill>
              </a:defRPr>
            </a:pPr>
            <a:r>
              <a:t>Replaces black-box spreadsheets with an open-source, fully typed Python framework validated by 13 automated unit tests.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2011680"/>
            <a:ext cx="338328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Actionable Client Metric</a:t>
            </a:r>
          </a:p>
          <a:p>
            <a:pPr>
              <a:spcBef>
                <a:spcPts val="1400"/>
              </a:spcBef>
              <a:defRPr sz="1300">
                <a:solidFill>
                  <a:srgbClr val="E2E8F0"/>
                </a:solidFill>
              </a:defRPr>
            </a:pPr>
            <a:r>
              <a:t>Quantifies client lifestyle satisfaction (0-100% QoL Index) alongside portfolio survival, enabling clear trade-off discussions.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2011680"/>
            <a:ext cx="338328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Tax Optimization Engine</a:t>
            </a:r>
          </a:p>
          <a:p>
            <a:pPr>
              <a:spcBef>
                <a:spcPts val="1400"/>
              </a:spcBef>
              <a:defRPr sz="1300">
                <a:solidFill>
                  <a:srgbClr val="E2E8F0"/>
                </a:solidFill>
              </a:defRPr>
            </a:pPr>
            <a:r>
              <a:t>Stress-tests tactical Roth conversions, Social Security claiming ages, and 2-year IRMAA lookback friction in seconds.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